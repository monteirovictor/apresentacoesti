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5" r:id="rId1"/>
  </p:sldMasterIdLst>
  <p:sldIdLst>
    <p:sldId id="256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305" r:id="rId22"/>
    <p:sldId id="291" r:id="rId23"/>
    <p:sldId id="306" r:id="rId24"/>
    <p:sldId id="307" r:id="rId25"/>
    <p:sldId id="308" r:id="rId26"/>
    <p:sldId id="309" r:id="rId27"/>
    <p:sldId id="310" r:id="rId28"/>
    <p:sldId id="311" r:id="rId29"/>
    <p:sldId id="313" r:id="rId30"/>
    <p:sldId id="312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43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30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03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37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257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996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59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75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94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30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6820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889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4302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672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317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09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96B24-1461-4238-AA60-0B2B20360717}" type="datetimeFigureOut">
              <a:rPr lang="pt-BR" smtClean="0"/>
              <a:pPr/>
              <a:t>09/06/2016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CCEE4C4-B9C0-4BF4-9FCC-F4761F441FE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70708" y="2468880"/>
            <a:ext cx="11002335" cy="22076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Feature Driven Development (FDD) </a:t>
            </a:r>
            <a:r>
              <a:rPr lang="en-US" sz="48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4800" b="1" dirty="0" smtClean="0">
                <a:latin typeface="Arial" pitchFamily="34" charset="0"/>
                <a:cs typeface="Arial" pitchFamily="34" charset="0"/>
              </a:rPr>
            </a:br>
            <a:r>
              <a:rPr lang="en-US" sz="4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4800" b="1" dirty="0" smtClean="0">
                <a:latin typeface="Arial" pitchFamily="34" charset="0"/>
                <a:cs typeface="Arial" pitchFamily="34" charset="0"/>
              </a:rPr>
              <a:t> </a:t>
            </a:r>
            <a:br>
              <a:rPr lang="en-US" sz="4800" b="1" dirty="0" smtClean="0">
                <a:latin typeface="Arial" pitchFamily="34" charset="0"/>
                <a:cs typeface="Arial" pitchFamily="34" charset="0"/>
              </a:rPr>
            </a:br>
            <a:r>
              <a:rPr lang="en-US" sz="4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Dynamic Systems Development (DSDM)</a:t>
            </a:r>
            <a:r>
              <a:rPr lang="pt-BR" dirty="0" smtClean="0">
                <a:solidFill>
                  <a:schemeClr val="tx1"/>
                </a:solidFill>
              </a:rPr>
              <a:t/>
            </a:r>
            <a:br>
              <a:rPr lang="pt-BR" dirty="0" smtClean="0">
                <a:solidFill>
                  <a:schemeClr val="tx1"/>
                </a:solidFill>
              </a:rPr>
            </a:b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96233" y="4529846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endParaRPr lang="pt-BR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599509" y="303127"/>
            <a:ext cx="7015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Fundação Educacional de Macaé – FUNEMAC</a:t>
            </a:r>
          </a:p>
          <a:p>
            <a:pPr algn="ctr"/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Faculdade Professor Miguel Ângelo Da Silva Santos - FeMASS</a:t>
            </a:r>
          </a:p>
          <a:p>
            <a:pPr algn="ctr"/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Disciplina : Gerência de Sistemas e Projetos </a:t>
            </a:r>
          </a:p>
          <a:p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3865627" y="6240417"/>
            <a:ext cx="9942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Grupo: Tiago Araujo e Victor Maia.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 descr="cidade-universitaria-small-new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31" y="209283"/>
            <a:ext cx="855377" cy="1044751"/>
          </a:xfrm>
          <a:prstGeom prst="rect">
            <a:avLst/>
          </a:prstGeom>
          <a:noFill/>
        </p:spPr>
      </p:pic>
      <p:pic>
        <p:nvPicPr>
          <p:cNvPr id="9" name="Imagem 8" descr="logo-femass_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1" y="299047"/>
            <a:ext cx="988171" cy="9288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907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012046" y="632352"/>
            <a:ext cx="8934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latin typeface="Arial" pitchFamily="34" charset="0"/>
                <a:cs typeface="Arial" pitchFamily="34" charset="0"/>
              </a:rPr>
              <a:t>Feature Driven Development (FDD) </a:t>
            </a:r>
            <a:endParaRPr lang="pt-BR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843750" y="1790953"/>
            <a:ext cx="11805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Criado em 1997 num grande projeto em Java para o 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pt-BR" sz="3200" dirty="0" err="1" smtClean="0">
                <a:latin typeface="Arial" pitchFamily="34" charset="0"/>
                <a:cs typeface="Arial" pitchFamily="34" charset="0"/>
              </a:rPr>
              <a:t>United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Overseas Bank, em Cingapura.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Nasceu a partir da experiência de análise e modelagem 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    orientadas por objetos de Peter Coad e de gerenciamento 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    de projetos por Jeff de Luca.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Seu lema é: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“Resultados frequentes, tangíveis e funcionais.”</a:t>
            </a:r>
          </a:p>
          <a:p>
            <a:pPr algn="ctr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946732" y="749917"/>
            <a:ext cx="9365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latin typeface="Arial" pitchFamily="34" charset="0"/>
                <a:cs typeface="Arial" pitchFamily="34" charset="0"/>
              </a:rPr>
              <a:t>Características da metodologia (FDD) </a:t>
            </a:r>
            <a:endParaRPr lang="pt-BR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843750" y="1790953"/>
            <a:ext cx="11805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Combina as melhores práticas do gerenciamento 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ágil de projetos com uma abordagem completa para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 Engenharia de Software orientada por objetos, 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conquistando os três principais públicos de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 um projeto de software: 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Clientes </a:t>
            </a:r>
          </a:p>
          <a:p>
            <a:pPr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Gerentes </a:t>
            </a:r>
          </a:p>
          <a:p>
            <a:pPr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Desenvolvedores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946732" y="749917"/>
            <a:ext cx="9365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latin typeface="Arial" pitchFamily="34" charset="0"/>
                <a:cs typeface="Arial" pitchFamily="34" charset="0"/>
              </a:rPr>
              <a:t>Características da metodologia (FDD) </a:t>
            </a:r>
            <a:endParaRPr lang="pt-BR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091944" y="1921582"/>
            <a:ext cx="1180545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Equipes pequenas e medias,enfatizando a </a:t>
            </a:r>
          </a:p>
          <a:p>
            <a:pPr algn="just"/>
            <a:r>
              <a:rPr lang="pt-BR" sz="3200" dirty="0" smtClean="0">
                <a:latin typeface="Arial" pitchFamily="34" charset="0"/>
                <a:cs typeface="Arial" pitchFamily="34" charset="0"/>
              </a:rPr>
              <a:t>Produção de softwares de qualidade e funcionais.</a:t>
            </a:r>
          </a:p>
          <a:p>
            <a:pPr algn="just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Realiza um trabalho significativo desde o início do </a:t>
            </a:r>
          </a:p>
          <a:p>
            <a:pPr algn="just"/>
            <a:r>
              <a:rPr lang="pt-BR" sz="3200" dirty="0" smtClean="0">
                <a:latin typeface="Arial" pitchFamily="34" charset="0"/>
                <a:cs typeface="Arial" pitchFamily="34" charset="0"/>
              </a:rPr>
              <a:t>Projeto, antes de tornar-se altamente iterativa.</a:t>
            </a:r>
          </a:p>
          <a:p>
            <a:pPr algn="just">
              <a:buFont typeface="Wingdings" pitchFamily="2" charset="2"/>
              <a:buChar char="Ø"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Fornece informações de estado e progresso</a:t>
            </a:r>
          </a:p>
          <a:p>
            <a:pPr algn="just"/>
            <a:r>
              <a:rPr lang="pt-BR" sz="3200" dirty="0" smtClean="0">
                <a:latin typeface="Arial" pitchFamily="34" charset="0"/>
                <a:cs typeface="Arial" pitchFamily="34" charset="0"/>
              </a:rPr>
              <a:t> de forma simples e compreensível</a:t>
            </a:r>
            <a:endParaRPr lang="pt-BR" sz="3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Papéis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169776"/>
            <a:ext cx="1180545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Gerente de projeto </a:t>
            </a: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 	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O responsável por todos os assuntos administrativos do projeto, incluindo o gerenciamento de recursos, orçamento, equipamentos e outros.</a:t>
            </a:r>
          </a:p>
          <a:p>
            <a:pPr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Arquiteto chefe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Elabora o projeto geral do software a ser desenvolvido, tomando decisões finais em relação ao projeto técnico.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Papéis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921582"/>
            <a:ext cx="1180545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Gerente de desenvolvimento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Responsável por gerenciar as atividades diárias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do projeto resolvendo problemas que poderão ocorrer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com a equipe.</a:t>
            </a:r>
          </a:p>
          <a:p>
            <a:pPr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Programador chefe</a:t>
            </a: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Lidera pequenos grupos de desenvolvedores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durante a construção das funcionalidades do produto.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É responsável pelas classes mais complexas do sistema.</a:t>
            </a: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Papéis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56367" y="2365719"/>
            <a:ext cx="118054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Proprietário de classe</a:t>
            </a: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 algn="just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Geralmente é o programador com maior experiência</a:t>
            </a:r>
          </a:p>
          <a:p>
            <a:pPr lvl="0" algn="just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dentro da equipe, participando na análise dos requisitos</a:t>
            </a:r>
          </a:p>
          <a:p>
            <a:pPr lvl="0" algn="just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e no projeto do software. </a:t>
            </a: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Papéis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56367" y="2365719"/>
            <a:ext cx="11805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Especialista do domínio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Pode ser um usuário, analista de negócios, cliente ou qualquer pessoa que conheça bem o domínio do problema.  </a:t>
            </a: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Apoio /Adicionais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Gerente de Versão,Guru da Linguagem, Criador de Ferramentas; Testadores e </a:t>
            </a:r>
            <a:r>
              <a:rPr lang="pt-BR" sz="3200" dirty="0" err="1" smtClean="0">
                <a:latin typeface="Arial" pitchFamily="34" charset="0"/>
                <a:cs typeface="Arial" pitchFamily="34" charset="0"/>
              </a:rPr>
              <a:t>Implantadores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Práticas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039149"/>
            <a:ext cx="11805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Modelagem de objetos do domínio </a:t>
            </a:r>
          </a:p>
          <a:p>
            <a:pPr algn="just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Construção de diagramas de classes UML, que descrevem os objetos relevantes,bem como os relacionamentos entre eles. </a:t>
            </a:r>
          </a:p>
          <a:p>
            <a:pPr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Desenvolvimento por funcionalidade </a:t>
            </a:r>
          </a:p>
          <a:p>
            <a:pPr marL="514350" indent="-51435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  		Desenvolvimento e acompanhamento do progresso através de da lista de funcionalidades </a:t>
            </a: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Práticas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039149"/>
            <a:ext cx="1180545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Posse individual de classe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Cada classe possui um único desenvolvedor responsável.</a:t>
            </a: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Time de funcionalidades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Formação de equipes pequenas e dinâmicas inspeção e uso dos melhores métodos conhecidos de detecção de erros.</a:t>
            </a: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Práticas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078337"/>
            <a:ext cx="11805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Inspeções de modelo e de código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 	Devem ser feitas durante e ao final de cada iteração,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para assegurar a qualidade do projeto e do código. O objetivo principal das inspeções é a detecção de defeitos. </a:t>
            </a:r>
          </a:p>
          <a:p>
            <a:pPr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Builds regulares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	Garantir que existe um sistema sempre disponível e demonstrável.</a:t>
            </a: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Práticas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078337"/>
            <a:ext cx="11805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Inspeções de modelo e de código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 	Devem ser feitas durante e ao final de cada iteração,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para assegurar a qualidade do projeto e do código. O objetivo principal das inspeções é a detecção de defeitos. </a:t>
            </a:r>
          </a:p>
          <a:p>
            <a:pPr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Builds regulares </a:t>
            </a:r>
          </a:p>
          <a:p>
            <a:pPr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	Garantir que existe um sistema sempre disponível e demonstrável.</a:t>
            </a: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Práticas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235092"/>
            <a:ext cx="118054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Gerenciamento de configuração 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Utilização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de um sistema de controle de versões para datar e manter um histórico das alterações feitas em cada classe. Bem como, no que se refere aos requisitos, análise e o projeto de modo que facilite a visualização das modificações feitas.</a:t>
            </a: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Práticas no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Feature </a:t>
            </a:r>
          </a:p>
          <a:p>
            <a:pPr algn="ctr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Driven Development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(FDD)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391846"/>
            <a:ext cx="118054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Relatório/visibilidade de resultados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	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O FDD sugere que todos os resultados ocorridos durante o projeto sejam disseminados para todos os membros da equipe e clientes.</a:t>
            </a: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Fluxos/Artefatos Do (FDD)</a:t>
            </a:r>
            <a:endParaRPr lang="en-US" sz="3600" b="1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Espaço Reservado para Conteúdo 3" descr="Sem título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2268" y="1610110"/>
            <a:ext cx="8136904" cy="4542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Fluxos/Artefatos do (FDD)</a:t>
            </a:r>
            <a:endParaRPr lang="en-US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56367" y="1320692"/>
            <a:ext cx="11805450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Artefatos do Modelo Abrangente: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Diagrama de Classes , sequência , atividade , casos de uso , lista preliminar de requisitos . Anotações nos modelos de processos.</a:t>
            </a:r>
          </a:p>
          <a:p>
            <a:pPr lvl="0"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Artefatos de Lista de Funcionalidades: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Decomposição funcional , em três camadas :</a:t>
            </a:r>
          </a:p>
          <a:p>
            <a:pPr lvl="0" algn="ctr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Áreas de negócio</a:t>
            </a:r>
          </a:p>
          <a:p>
            <a:pPr lvl="0"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Atividades de negócio</a:t>
            </a:r>
          </a:p>
          <a:p>
            <a:pPr lvl="0"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Passos automatizados da atividade</a:t>
            </a: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Fluxos/Artefatos do (FDD)</a:t>
            </a:r>
            <a:endParaRPr lang="en-US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56367" y="1320692"/>
            <a:ext cx="11805450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Artefatos do Planejamento por funcionalidades :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Plano de desenvolvimento , pacotes de trabalho,lista de classes com seus donos no processo.</a:t>
            </a:r>
          </a:p>
          <a:p>
            <a:pPr lvl="0"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Artefatos do Detalhamento de funcionalidades: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Esqueletos de classes com métodos, pacote de trabalho detalhado, relatório de inspeção do design,relatório de progresso atualizado dos processos .</a:t>
            </a:r>
          </a:p>
          <a:p>
            <a:pPr lvl="0" algn="ctr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Fluxos/Artefatos do (FDD)</a:t>
            </a:r>
            <a:endParaRPr lang="en-US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56367" y="1320692"/>
            <a:ext cx="11805450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Artefatos do Planejamento por funcionalidades :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Plano de desenvolvimento , pacotes de trabalho,lista de classes com seus donos no processo.</a:t>
            </a:r>
          </a:p>
          <a:p>
            <a:pPr lvl="0">
              <a:buNone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Artefatos do Detalhamento de funcionalidades: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Esqueletos de classes com métodos, pacote de trabalho detalhado, relatório de inspeção do design,relatório de progresso atualizado dos processos .</a:t>
            </a:r>
          </a:p>
          <a:p>
            <a:pPr lvl="0" algn="ctr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384158"/>
            <a:ext cx="10245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Fluxos/Artefatos do (FDD)</a:t>
            </a:r>
            <a:endParaRPr lang="en-US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841242"/>
            <a:ext cx="1180545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Artefatos de Construção por Funcionalidades :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	Código fonte testado e integrado , relatórios de inspeção </a:t>
            </a:r>
          </a:p>
          <a:p>
            <a:pPr lvl="0">
              <a:buNone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e testes , lista de alterações feitas/necessárias, relatório de progresso atualizando observações.</a:t>
            </a: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763852" y="619289"/>
            <a:ext cx="10179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latin typeface="Arial" pitchFamily="34" charset="0"/>
                <a:cs typeface="Arial" pitchFamily="34" charset="0"/>
              </a:rPr>
              <a:t>Dynamic Systems Development (DSDM) </a:t>
            </a:r>
            <a:endParaRPr lang="pt-BR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34744" y="1777891"/>
            <a:ext cx="11805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Criado na década de 90 na Inglaterra.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 O método inicia-se por um consórcio de vendedores e desenvolvedores , compartilhando experiências de mercado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 em relação a produção de software.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Seu Objetivo é solucionar : a falta de tempo, orçamentos apertados e baixo envolvimento da equipe de produção.</a:t>
            </a:r>
          </a:p>
          <a:p>
            <a:pPr algn="ctr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763852" y="619289"/>
            <a:ext cx="10179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latin typeface="Arial" pitchFamily="34" charset="0"/>
                <a:cs typeface="Arial" pitchFamily="34" charset="0"/>
              </a:rPr>
              <a:t>Dynamic Systems Development (DSDM) </a:t>
            </a:r>
            <a:endParaRPr lang="pt-BR" sz="4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22936" y="2052095"/>
            <a:ext cx="6550233" cy="3747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410283"/>
            <a:ext cx="111466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Papéis no Dynamic Systems </a:t>
            </a:r>
          </a:p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Development (DSDM)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921582"/>
            <a:ext cx="1180545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Primeiro Grupo:</a:t>
            </a: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Gerente Executivo: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Tem a função em cumprir prazos, onde a sua palavra é grande importância na tomada de decisões.</a:t>
            </a:r>
          </a:p>
          <a:p>
            <a:pPr lvl="0"/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Visionário: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 É o que inicia o projeto certificando que os requisitos foram bem estruturados. Ele deve conter a </a:t>
            </a:r>
          </a:p>
          <a:p>
            <a:pPr lvl="0"/>
            <a:r>
              <a:rPr lang="pt-BR" sz="3200" dirty="0" smtClean="0">
                <a:latin typeface="Arial" pitchFamily="34" charset="0"/>
                <a:cs typeface="Arial" pitchFamily="34" charset="0"/>
              </a:rPr>
              <a:t>percepção dos objetivos de negócio projeto.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410283"/>
            <a:ext cx="111466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Papéis no Dynamic Systems </a:t>
            </a:r>
          </a:p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Development (DSDM)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921582"/>
            <a:ext cx="1180545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Primeiro Grupo:</a:t>
            </a: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Intermediador: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É um profissional que agrega conhecimento de outras áreas para a construção do projeto, fornecendo uma quantidade feedback de usuários a equipe de desenvolvedores.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Anunciante: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Usuário que dispõe seu ponto de vista em relação ao projeto e agregando conhecimento ao projeto.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410283"/>
            <a:ext cx="111466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Papéis no Dynamic Systems </a:t>
            </a:r>
          </a:p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Development (DSDM)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921582"/>
            <a:ext cx="1180545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Segundo Grupo: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Gerente de Projeto: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Profissional responsável por gerenciar o projeto como um todo.</a:t>
            </a:r>
          </a:p>
          <a:p>
            <a:pPr lvl="0"/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Coordenador Técnico: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Responsável pela arquitetura do sistema e controle da qualidade técnica do projeto.</a:t>
            </a:r>
          </a:p>
          <a:p>
            <a:r>
              <a:rPr lang="pt-BR" sz="3200" dirty="0" smtClean="0"/>
              <a:t> </a:t>
            </a: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410283"/>
            <a:ext cx="111466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Papéis no Dynamic Systems </a:t>
            </a:r>
          </a:p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Development (DSDM)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00059" y="1841242"/>
            <a:ext cx="1180545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Segundo Grupo: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Líder de Equipe: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Responsável por manter a harmonia do projeto e a realização das atividades em grupo.</a:t>
            </a:r>
          </a:p>
          <a:p>
            <a:pPr lvl="0"/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Desenvolvedor: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Interpreta o modelo e requisitos do </a:t>
            </a:r>
          </a:p>
          <a:p>
            <a:pPr lvl="0"/>
            <a:r>
              <a:rPr lang="pt-BR" sz="3200" dirty="0" smtClean="0">
                <a:latin typeface="Arial" pitchFamily="34" charset="0"/>
                <a:cs typeface="Arial" pitchFamily="34" charset="0"/>
              </a:rPr>
              <a:t>sistema incluindo desenvolvimento de artefatos de </a:t>
            </a:r>
          </a:p>
          <a:p>
            <a:pPr lvl="0"/>
            <a:r>
              <a:rPr lang="pt-BR" sz="3200" dirty="0" smtClean="0">
                <a:latin typeface="Arial" pitchFamily="34" charset="0"/>
                <a:cs typeface="Arial" pitchFamily="34" charset="0"/>
              </a:rPr>
              <a:t>código e construção de protótipos.</a:t>
            </a: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410283"/>
            <a:ext cx="111466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Papéis no Dynamic Systems </a:t>
            </a:r>
          </a:p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Development (DSDM)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00059" y="1841242"/>
            <a:ext cx="1180545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Segundo Grupo:</a:t>
            </a:r>
          </a:p>
          <a:p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Líder de Equipe: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Responsável por manter a harmonia do projeto e a realização das atividades em grupo.</a:t>
            </a:r>
          </a:p>
          <a:p>
            <a:pPr lvl="0"/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Desenvolvedor: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Interpreta o modelo e requisitos do </a:t>
            </a:r>
          </a:p>
          <a:p>
            <a:pPr lvl="0"/>
            <a:r>
              <a:rPr lang="pt-BR" sz="3200" dirty="0" smtClean="0">
                <a:latin typeface="Arial" pitchFamily="34" charset="0"/>
                <a:cs typeface="Arial" pitchFamily="34" charset="0"/>
              </a:rPr>
              <a:t>sistema incluindo desenvolvimento de artefatos de </a:t>
            </a:r>
          </a:p>
          <a:p>
            <a:pPr lvl="0"/>
            <a:r>
              <a:rPr lang="pt-BR" sz="3200" dirty="0" smtClean="0">
                <a:latin typeface="Arial" pitchFamily="34" charset="0"/>
                <a:cs typeface="Arial" pitchFamily="34" charset="0"/>
              </a:rPr>
              <a:t>código e construção de protótipos.</a:t>
            </a: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45395" y="410283"/>
            <a:ext cx="111466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Papéis no Dynamic Systems </a:t>
            </a:r>
          </a:p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Development (DSDM)</a:t>
            </a:r>
            <a:endParaRPr lang="pt-BR" sz="3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56368" y="1697551"/>
            <a:ext cx="1180545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latin typeface="Arial" pitchFamily="34" charset="0"/>
                <a:cs typeface="Arial" pitchFamily="34" charset="0"/>
              </a:rPr>
              <a:t>Terceiro Grupo:</a:t>
            </a:r>
          </a:p>
          <a:p>
            <a:pPr lvl="0"/>
            <a:endParaRPr lang="pt-BR" sz="2800" b="1" i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2800" b="1" dirty="0" smtClean="0">
                <a:latin typeface="Arial" pitchFamily="34" charset="0"/>
                <a:cs typeface="Arial" pitchFamily="34" charset="0"/>
              </a:rPr>
              <a:t>Testador: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Confere a parte técnica através da execução de 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ferramentas de teste das funcionalidades desenvolvidas, 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realizando comentários e documentações. </a:t>
            </a:r>
          </a:p>
          <a:p>
            <a:pPr lvl="0"/>
            <a:endParaRPr lang="pt-BR" sz="28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2800" b="1" dirty="0" smtClean="0">
                <a:latin typeface="Arial" pitchFamily="34" charset="0"/>
                <a:cs typeface="Arial" pitchFamily="34" charset="0"/>
              </a:rPr>
              <a:t>Escrivão: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Recolhe e armazena requisitos, acordos realizados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 entre a equipe de trabalho.</a:t>
            </a:r>
          </a:p>
          <a:p>
            <a:pPr lvl="0"/>
            <a:endParaRPr lang="pt-BR" sz="28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2800" b="1" dirty="0" smtClean="0">
                <a:latin typeface="Arial" pitchFamily="34" charset="0"/>
                <a:cs typeface="Arial" pitchFamily="34" charset="0"/>
              </a:rPr>
              <a:t>Facilitador: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Coordena as reuniões e inspeções, sendo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 peça fundamental na comunicação.</a:t>
            </a: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Práticas de </a:t>
            </a:r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Dynamic Systems </a:t>
            </a:r>
          </a:p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Development (DSDM)</a:t>
            </a:r>
            <a:endParaRPr lang="pt-BR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2089437"/>
            <a:ext cx="118054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pt-BR" sz="2800" dirty="0" smtClean="0">
                <a:latin typeface="Arial" pitchFamily="34" charset="0"/>
                <a:cs typeface="Arial" pitchFamily="34" charset="0"/>
              </a:rPr>
              <a:t>A entrega do produto deve aproximar-se da necessidade do negócio.</a:t>
            </a:r>
          </a:p>
          <a:p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pt-BR" sz="2800" dirty="0" smtClean="0">
                <a:latin typeface="Arial" pitchFamily="34" charset="0"/>
                <a:cs typeface="Arial" pitchFamily="34" charset="0"/>
              </a:rPr>
              <a:t>O processo de desenvolvimento baseia-se no princípio de Pareto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 onde 80% da solução de software pode ser desenvolvida em 20% 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do tempo empregado para encontrar a solução perfeita.</a:t>
            </a:r>
          </a:p>
          <a:p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pt-BR" sz="2800" dirty="0" smtClean="0">
                <a:latin typeface="Arial" pitchFamily="34" charset="0"/>
                <a:cs typeface="Arial" pitchFamily="34" charset="0"/>
              </a:rPr>
              <a:t> A entrega deve ser feita na data estipulada, dentro do orçamento previsto e com boa qualidade.</a:t>
            </a: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Fluxo no (DSD)</a:t>
            </a:r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19868" y="2349242"/>
            <a:ext cx="1180545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dirty="0" smtClean="0">
                <a:latin typeface="Arial" pitchFamily="34" charset="0"/>
                <a:cs typeface="Arial" pitchFamily="34" charset="0"/>
              </a:rPr>
              <a:t>Pré- Projeto:</a:t>
            </a:r>
            <a:r>
              <a:rPr lang="pt-BR" sz="3000" dirty="0" smtClean="0">
                <a:latin typeface="Arial" pitchFamily="34" charset="0"/>
                <a:cs typeface="Arial" pitchFamily="34" charset="0"/>
              </a:rPr>
              <a:t> Identifica os projetos candidatos, definindo </a:t>
            </a: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orçamento e fechamento de contrato. É de grande importância</a:t>
            </a: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 essa etapa pois nela é tratada questões iniciais, podendo </a:t>
            </a: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evitar problemas nas fases mais avançadas.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Fluxo no (DSD)</a:t>
            </a:r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485642"/>
            <a:ext cx="11805450" cy="7786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dirty="0" smtClean="0">
                <a:latin typeface="Arial" pitchFamily="34" charset="0"/>
                <a:cs typeface="Arial" pitchFamily="34" charset="0"/>
              </a:rPr>
              <a:t>Ciclo de Vida :</a:t>
            </a:r>
            <a:r>
              <a:rPr lang="pt-BR" sz="3000" dirty="0" smtClean="0">
                <a:latin typeface="Arial" pitchFamily="34" charset="0"/>
                <a:cs typeface="Arial" pitchFamily="34" charset="0"/>
              </a:rPr>
              <a:t> Composta de cinco estágios: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Estudo de viabilidade: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É realizado a avaliação se o projeto, pode ser utilizar a metodologia DSDM, com os recursos e </a:t>
            </a:r>
          </a:p>
          <a:p>
            <a:pPr lvl="0"/>
            <a:r>
              <a:rPr lang="pt-BR" sz="3200" dirty="0" smtClean="0">
                <a:latin typeface="Arial" pitchFamily="34" charset="0"/>
                <a:cs typeface="Arial" pitchFamily="34" charset="0"/>
              </a:rPr>
              <a:t>tempo disponível. Ao final é gerado um relatório, protótipo de viabilidade e registros de riscos</a:t>
            </a:r>
          </a:p>
          <a:p>
            <a:r>
              <a:rPr lang="pt-BR" sz="32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pPr lvl="0"/>
            <a:r>
              <a:rPr lang="pt-BR" sz="3200" b="1" dirty="0" smtClean="0">
                <a:latin typeface="Arial" pitchFamily="34" charset="0"/>
                <a:cs typeface="Arial" pitchFamily="34" charset="0"/>
              </a:rPr>
              <a:t>Estudo do negócio: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  Nesse estágio é realizado workshops, onde diferente parte dos envolvidos se unem para discutir a construção do sistema.</a:t>
            </a:r>
          </a:p>
          <a:p>
            <a:r>
              <a:rPr lang="pt-BR" sz="3200" dirty="0" smtClean="0"/>
              <a:t> 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Fluxo no (DSD)</a:t>
            </a:r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485642"/>
            <a:ext cx="11805450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latin typeface="Arial" pitchFamily="34" charset="0"/>
                <a:cs typeface="Arial" pitchFamily="34" charset="0"/>
              </a:rPr>
              <a:t>Ciclo de Vida :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Composta de cinco estágios:</a:t>
            </a:r>
          </a:p>
          <a:p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pt-BR" sz="2800" b="1" dirty="0" smtClean="0">
                <a:latin typeface="Arial" pitchFamily="34" charset="0"/>
                <a:cs typeface="Arial" pitchFamily="34" charset="0"/>
              </a:rPr>
              <a:t>Modelo funcional: 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Os requisitos anteriores são transformados 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em modelos funcionais. Nesse período é necessário entregar </a:t>
            </a:r>
          </a:p>
          <a:p>
            <a:pPr lvl="0"/>
            <a:r>
              <a:rPr lang="pt-BR" sz="2800" dirty="0" smtClean="0">
                <a:latin typeface="Arial" pitchFamily="34" charset="0"/>
                <a:cs typeface="Arial" pitchFamily="34" charset="0"/>
              </a:rPr>
              <a:t>ao cliente o modelo funcional e o protótipo funcional.</a:t>
            </a:r>
          </a:p>
          <a:p>
            <a:r>
              <a:rPr lang="pt-BR" sz="28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pt-BR" sz="2800" b="1" dirty="0" smtClean="0">
                <a:latin typeface="Arial" pitchFamily="34" charset="0"/>
                <a:cs typeface="Arial" pitchFamily="34" charset="0"/>
              </a:rPr>
              <a:t>Projeto e construção: 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Se divide em sub níveis como: protótipo de desenho, calendário de tarefas, criar protótipo de desenho e rever protótipo de desenho. Ao fim destas etapas será entregue ao cliente </a:t>
            </a:r>
          </a:p>
          <a:p>
            <a:r>
              <a:rPr lang="pt-BR" sz="2800" dirty="0" smtClean="0">
                <a:latin typeface="Arial" pitchFamily="34" charset="0"/>
                <a:cs typeface="Arial" pitchFamily="34" charset="0"/>
              </a:rPr>
              <a:t>o protótipo de desenho para que eles efetuem os testes.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Fluxo no (DSD)</a:t>
            </a:r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485642"/>
            <a:ext cx="1180545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latin typeface="Arial" pitchFamily="34" charset="0"/>
                <a:cs typeface="Arial" pitchFamily="34" charset="0"/>
              </a:rPr>
              <a:t>Ciclo de Vida :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Composta de cinco estágios:</a:t>
            </a:r>
          </a:p>
          <a:p>
            <a:pPr algn="just"/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 algn="just"/>
            <a:r>
              <a:rPr lang="pt-BR" sz="3000" b="1" dirty="0" smtClean="0">
                <a:latin typeface="Arial" pitchFamily="34" charset="0"/>
                <a:cs typeface="Arial" pitchFamily="34" charset="0"/>
              </a:rPr>
              <a:t>	Implementação:</a:t>
            </a:r>
            <a:r>
              <a:rPr lang="pt-BR" sz="3000" dirty="0" smtClean="0">
                <a:latin typeface="Arial" pitchFamily="34" charset="0"/>
                <a:cs typeface="Arial" pitchFamily="34" charset="0"/>
              </a:rPr>
              <a:t> Nesse estágio o sistema será testado </a:t>
            </a:r>
          </a:p>
          <a:p>
            <a:pPr lvl="0" algn="just"/>
            <a:r>
              <a:rPr lang="pt-BR" sz="3000" dirty="0" smtClean="0">
                <a:latin typeface="Arial" pitchFamily="34" charset="0"/>
                <a:cs typeface="Arial" pitchFamily="34" charset="0"/>
              </a:rPr>
              <a:t>	e sua documentação será entregue aos utilizadores </a:t>
            </a:r>
          </a:p>
          <a:p>
            <a:pPr lvl="0" algn="just"/>
            <a:r>
              <a:rPr lang="pt-BR" sz="3000" dirty="0" smtClean="0">
                <a:latin typeface="Arial" pitchFamily="34" charset="0"/>
                <a:cs typeface="Arial" pitchFamily="34" charset="0"/>
              </a:rPr>
              <a:t>	finais que deverão começar a ser treinados para utilizar </a:t>
            </a:r>
          </a:p>
          <a:p>
            <a:pPr lvl="0" algn="just"/>
            <a:r>
              <a:rPr lang="pt-BR" sz="3000" dirty="0" smtClean="0">
                <a:latin typeface="Arial" pitchFamily="34" charset="0"/>
                <a:cs typeface="Arial" pitchFamily="34" charset="0"/>
              </a:rPr>
              <a:t>	o sistema. Nesse estágio será entregue, o sistema </a:t>
            </a:r>
          </a:p>
          <a:p>
            <a:pPr lvl="0" algn="just"/>
            <a:r>
              <a:rPr lang="pt-BR" sz="3000" dirty="0" smtClean="0">
                <a:latin typeface="Arial" pitchFamily="34" charset="0"/>
                <a:cs typeface="Arial" pitchFamily="34" charset="0"/>
              </a:rPr>
              <a:t>	instalado, treinamento de usuários, documento de </a:t>
            </a:r>
          </a:p>
          <a:p>
            <a:pPr lvl="0" algn="just"/>
            <a:r>
              <a:rPr lang="pt-BR" sz="3000" dirty="0" smtClean="0">
                <a:latin typeface="Arial" pitchFamily="34" charset="0"/>
                <a:cs typeface="Arial" pitchFamily="34" charset="0"/>
              </a:rPr>
              <a:t>	revisão do projeto.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Fluxo no (DSD)</a:t>
            </a:r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485642"/>
            <a:ext cx="118054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latin typeface="Arial" pitchFamily="34" charset="0"/>
                <a:cs typeface="Arial" pitchFamily="34" charset="0"/>
              </a:rPr>
              <a:t>Ciclo de Vida :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Composta de cinco estágios:</a:t>
            </a:r>
          </a:p>
          <a:p>
            <a:pPr lvl="0" algn="just"/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0563" y="2659063"/>
            <a:ext cx="570547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Fluxo no (DSD)</a:t>
            </a:r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485642"/>
            <a:ext cx="1180545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Pós- Projeto: 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	É garantida a eficácia do projeto, através dos processos de manutenção e melhorias de acordo com as premissas do DSDM. </a:t>
            </a: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A manutenção é tida como um continuo desenvolvimento. É possível retornar fases/estágios a fim de refinar e melhorar cada  vez mais a etapa concluída.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Artefatos do (DSDM) </a:t>
            </a: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86550" y="1485642"/>
            <a:ext cx="1180545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3000" b="1" dirty="0" err="1" smtClean="0">
                <a:latin typeface="Arial" pitchFamily="34" charset="0"/>
                <a:cs typeface="Arial" pitchFamily="34" charset="0"/>
              </a:rPr>
              <a:t>Time-boxes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pt-BR" sz="3000" dirty="0" smtClean="0">
                <a:latin typeface="Arial" pitchFamily="34" charset="0"/>
                <a:cs typeface="Arial" pitchFamily="34" charset="0"/>
              </a:rPr>
              <a:t> Um período fixo para a execução do projeto, colocando até datas de entrega. Caso haja alguma funcionalidade que não possa ser implementada durante o período estipulado, ela deve ser feita antes da fase de pós-projeto.</a:t>
            </a: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pPr lvl="0"/>
            <a:r>
              <a:rPr lang="pt-BR" sz="3000" b="1" dirty="0" smtClean="0">
                <a:latin typeface="Arial" pitchFamily="34" charset="0"/>
                <a:cs typeface="Arial" pitchFamily="34" charset="0"/>
              </a:rPr>
              <a:t>MoSCoW: </a:t>
            </a:r>
            <a:r>
              <a:rPr lang="pt-BR" sz="3000" dirty="0" smtClean="0">
                <a:latin typeface="Arial" pitchFamily="34" charset="0"/>
                <a:cs typeface="Arial" pitchFamily="34" charset="0"/>
              </a:rPr>
              <a:t>Prioriza requisitos durante o período de desenvolvimento. A ideia fundamental é priorizar e implementar </a:t>
            </a:r>
          </a:p>
          <a:p>
            <a:pPr lvl="0"/>
            <a:r>
              <a:rPr lang="pt-BR" sz="3000" dirty="0" smtClean="0">
                <a:latin typeface="Arial" pitchFamily="34" charset="0"/>
                <a:cs typeface="Arial" pitchFamily="34" charset="0"/>
              </a:rPr>
              <a:t>os requisitos que sejam considerados importantes, deixando o menor valor para um segundo momento. 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Artefatos do (DSDM) </a:t>
            </a: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27850" y="1549142"/>
            <a:ext cx="11805450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3000" b="1" dirty="0" smtClean="0">
                <a:latin typeface="Arial" pitchFamily="34" charset="0"/>
                <a:cs typeface="Arial" pitchFamily="34" charset="0"/>
              </a:rPr>
              <a:t>Modelagem:</a:t>
            </a:r>
            <a:r>
              <a:rPr lang="pt-BR" sz="3000" dirty="0" smtClean="0">
                <a:latin typeface="Arial" pitchFamily="34" charset="0"/>
                <a:cs typeface="Arial" pitchFamily="34" charset="0"/>
              </a:rPr>
              <a:t> Processo não burocrático, com intuito de </a:t>
            </a:r>
          </a:p>
          <a:p>
            <a:pPr lvl="0"/>
            <a:r>
              <a:rPr lang="pt-BR" sz="3000" dirty="0" smtClean="0">
                <a:latin typeface="Arial" pitchFamily="34" charset="0"/>
                <a:cs typeface="Arial" pitchFamily="34" charset="0"/>
              </a:rPr>
              <a:t>prover um melhor entendimento do problema e de uma </a:t>
            </a:r>
          </a:p>
          <a:p>
            <a:pPr lvl="0"/>
            <a:r>
              <a:rPr lang="pt-BR" sz="3000" dirty="0" smtClean="0">
                <a:latin typeface="Arial" pitchFamily="34" charset="0"/>
                <a:cs typeface="Arial" pitchFamily="34" charset="0"/>
              </a:rPr>
              <a:t>possível solução.</a:t>
            </a: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pt-BR" sz="3000" dirty="0" smtClean="0">
                <a:latin typeface="Arial" pitchFamily="34" charset="0"/>
                <a:cs typeface="Arial" pitchFamily="34" charset="0"/>
              </a:rPr>
              <a:t> </a:t>
            </a:r>
            <a:r>
              <a:rPr lang="pt-BR" sz="3000" b="1" dirty="0" smtClean="0">
                <a:latin typeface="Arial" pitchFamily="34" charset="0"/>
                <a:cs typeface="Arial" pitchFamily="34" charset="0"/>
              </a:rPr>
              <a:t>Prototipação:</a:t>
            </a:r>
            <a:r>
              <a:rPr lang="pt-BR" sz="3000" dirty="0" smtClean="0">
                <a:latin typeface="Arial" pitchFamily="34" charset="0"/>
                <a:cs typeface="Arial" pitchFamily="34" charset="0"/>
              </a:rPr>
              <a:t> Verifica a adequação dos requisitos e facilita as discussões com o cliente. O protótipo criado deve evoluir </a:t>
            </a:r>
          </a:p>
          <a:p>
            <a:pPr lvl="0"/>
            <a:r>
              <a:rPr lang="pt-BR" sz="3000" dirty="0" smtClean="0">
                <a:latin typeface="Arial" pitchFamily="34" charset="0"/>
                <a:cs typeface="Arial" pitchFamily="34" charset="0"/>
              </a:rPr>
              <a:t>juntamente com o projeto.</a:t>
            </a:r>
          </a:p>
          <a:p>
            <a:r>
              <a:rPr lang="pt-BR" sz="3200" dirty="0" smtClean="0"/>
              <a:t> 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200" b="1" dirty="0" smtClean="0"/>
              <a:t>Análise Comparativa entre (FDD) e (DSDM)</a:t>
            </a:r>
            <a:endParaRPr lang="pt-BR" sz="3200" dirty="0" smtClean="0"/>
          </a:p>
          <a:p>
            <a:pPr algn="ctr"/>
            <a:endParaRPr lang="pt-BR" sz="30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2442" y="1480903"/>
            <a:ext cx="1180545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pt-BR" sz="2800" b="1" dirty="0" smtClean="0">
                <a:latin typeface="Arial" pitchFamily="34" charset="0"/>
                <a:cs typeface="Arial" pitchFamily="34" charset="0"/>
              </a:rPr>
              <a:t>Características:</a:t>
            </a:r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199" y="2272708"/>
            <a:ext cx="6578221" cy="4182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200" b="1" dirty="0" smtClean="0"/>
              <a:t>Análise Comparativa entre (FDD) e (DSDM)</a:t>
            </a:r>
            <a:endParaRPr lang="pt-BR" sz="3200" dirty="0" smtClean="0"/>
          </a:p>
          <a:p>
            <a:pPr algn="ctr"/>
            <a:endParaRPr lang="pt-BR" sz="30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2442" y="1480903"/>
            <a:ext cx="1180545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pt-BR" sz="2800" b="1" dirty="0" smtClean="0">
                <a:latin typeface="Arial" pitchFamily="34" charset="0"/>
                <a:cs typeface="Arial" pitchFamily="34" charset="0"/>
              </a:rPr>
              <a:t>Vantagens:</a:t>
            </a:r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0747" y="2210937"/>
            <a:ext cx="5901450" cy="438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200" b="1" dirty="0" smtClean="0"/>
              <a:t>Análise Comparativa entre (FDD) e (DSDM)</a:t>
            </a:r>
            <a:endParaRPr lang="pt-BR" sz="3200" dirty="0" smtClean="0"/>
          </a:p>
          <a:p>
            <a:pPr algn="ctr"/>
            <a:endParaRPr lang="pt-BR" sz="30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2442" y="1480903"/>
            <a:ext cx="1180545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pt-BR" sz="2800" b="1" dirty="0" smtClean="0">
                <a:latin typeface="Arial" pitchFamily="34" charset="0"/>
                <a:cs typeface="Arial" pitchFamily="34" charset="0"/>
              </a:rPr>
              <a:t>Desvantagens:</a:t>
            </a:r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0200" y="2599509"/>
            <a:ext cx="8058096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200" b="1" dirty="0" smtClean="0"/>
              <a:t>Análise Comparativa entre (FDD) e (DSDM)</a:t>
            </a:r>
            <a:endParaRPr lang="pt-BR" sz="3200" dirty="0" smtClean="0"/>
          </a:p>
          <a:p>
            <a:pPr algn="ctr"/>
            <a:endParaRPr lang="pt-BR" sz="30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2442" y="1480903"/>
            <a:ext cx="1180545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pt-BR" sz="2800" b="1" dirty="0" smtClean="0">
                <a:latin typeface="Arial" pitchFamily="34" charset="0"/>
                <a:cs typeface="Arial" pitchFamily="34" charset="0"/>
              </a:rPr>
              <a:t>Desvantagens:</a:t>
            </a:r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0200" y="2599509"/>
            <a:ext cx="8058096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200" b="1" dirty="0" smtClean="0"/>
              <a:t>Referencia Bibliográfica</a:t>
            </a:r>
            <a:endParaRPr lang="pt-BR" sz="3200" dirty="0" smtClean="0"/>
          </a:p>
          <a:p>
            <a:pPr algn="ctr"/>
            <a:endParaRPr lang="pt-BR" sz="30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2442" y="1480903"/>
            <a:ext cx="118054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[1] Teixeira, D. -  DSDM – Dynamic Systems Development Methodology – Faculdade De 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Engenharia da Universidade Do Porto. Acesso, 29 de maio.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[2] Siqueira, L.F – Métodos ágeis. Acesso, 30 de maio.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[3] Luz, D.G – USP – Universidade do Estado de São Paulo – Métodos ágeis. 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Acesso em 29 de maio.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[4] Pressman, S. R. – Engenharia de Software – Uma abordagem Profissional. 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Acesso, 1 de junho.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pt-BR" sz="3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8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549005" y="358031"/>
            <a:ext cx="111466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/>
              <a:t> </a:t>
            </a:r>
            <a:r>
              <a:rPr lang="pt-BR" sz="3200" b="1" dirty="0" smtClean="0"/>
              <a:t>Referencia Bibliográfica</a:t>
            </a:r>
            <a:endParaRPr lang="pt-BR" sz="3200" dirty="0" smtClean="0"/>
          </a:p>
          <a:p>
            <a:pPr algn="ctr"/>
            <a:endParaRPr lang="pt-BR" sz="30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2442" y="1480903"/>
            <a:ext cx="1180545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[5] FDD Numa Casca de banana, Um guia de rápido aprendizado para a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 Feature Driven Development. Mar 2007, Alexandre Magno Figueiredo.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[6]&lt;</a:t>
            </a: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http://engenheirosdosoftware.blogspot.com.br/2008/10/fdd-feature-driven-development.html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&gt; Acessado em 05/06/2016.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[7]&lt;</a:t>
            </a: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http://ariston-araujo.blogspot.com.br/2012/05/vbehaviorurldefaultvmlo.html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&gt; Acessado em 05/06/2016.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[8] Feature Driven Development; 2007;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Setti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Rodrigo,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Gameiro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Lucas,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BoscariolLendro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Leal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Flavio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pt-BR" sz="2800" dirty="0" smtClean="0">
              <a:latin typeface="Arial" pitchFamily="34" charset="0"/>
              <a:cs typeface="Arial" pitchFamily="34" charset="0"/>
            </a:endParaRPr>
          </a:p>
          <a:p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30257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Cacho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984</TotalTime>
  <Words>1219</Words>
  <Application>Microsoft Office PowerPoint</Application>
  <PresentationFormat>Widescreen</PresentationFormat>
  <Paragraphs>366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Century Gothic</vt:lpstr>
      <vt:lpstr>Wingdings</vt:lpstr>
      <vt:lpstr>Wingdings 3</vt:lpstr>
      <vt:lpstr>Cacho</vt:lpstr>
      <vt:lpstr>Feature Driven Development (FDD)  x  Dynamic Systems Development (DSDM)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lenovo</dc:creator>
  <cp:lastModifiedBy>Lenovo</cp:lastModifiedBy>
  <cp:revision>96</cp:revision>
  <dcterms:created xsi:type="dcterms:W3CDTF">2014-06-30T11:16:45Z</dcterms:created>
  <dcterms:modified xsi:type="dcterms:W3CDTF">2016-06-09T16:29:41Z</dcterms:modified>
</cp:coreProperties>
</file>