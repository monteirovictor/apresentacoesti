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3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0080625" cy="7559675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96" y="-294"/>
      </p:cViewPr>
      <p:guideLst>
        <p:guide orient="horz" pos="2381"/>
        <p:guide pos="317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ângulo retângulo 9"/>
          <p:cNvSpPr/>
          <p:nvPr/>
        </p:nvSpPr>
        <p:spPr>
          <a:xfrm>
            <a:off x="-2" y="5141358"/>
            <a:ext cx="1008844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756047" y="1931918"/>
            <a:ext cx="8568531" cy="2016973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53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756047" y="3981128"/>
            <a:ext cx="8568531" cy="1322451"/>
          </a:xfrm>
        </p:spPr>
        <p:txBody>
          <a:bodyPr lIns="50397" rIns="50397"/>
          <a:lstStyle>
            <a:lvl1pPr marL="0" marR="70556" indent="0" algn="r">
              <a:buNone/>
              <a:defRPr>
                <a:solidFill>
                  <a:schemeClr val="tx2"/>
                </a:solidFill>
              </a:defRPr>
            </a:lvl1pPr>
            <a:lvl2pPr marL="503972" indent="0" algn="ctr">
              <a:buNone/>
            </a:lvl2pPr>
            <a:lvl3pPr marL="1007943" indent="0" algn="ctr">
              <a:buNone/>
            </a:lvl3pPr>
            <a:lvl4pPr marL="1511915" indent="0" algn="ctr">
              <a:buNone/>
            </a:lvl4pPr>
            <a:lvl5pPr marL="2015886" indent="0" algn="ctr">
              <a:buNone/>
            </a:lvl5pPr>
            <a:lvl6pPr marL="2519858" indent="0" algn="ctr">
              <a:buNone/>
            </a:lvl6pPr>
            <a:lvl7pPr marL="3023829" indent="0" algn="ctr">
              <a:buNone/>
            </a:lvl7pPr>
            <a:lvl8pPr marL="3527801" indent="0" algn="ctr">
              <a:buNone/>
            </a:lvl8pPr>
            <a:lvl9pPr marL="4031772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grpSp>
        <p:nvGrpSpPr>
          <p:cNvPr id="2" name="Grupo 1"/>
          <p:cNvGrpSpPr/>
          <p:nvPr/>
        </p:nvGrpSpPr>
        <p:grpSpPr>
          <a:xfrm>
            <a:off x="-4150" y="5459765"/>
            <a:ext cx="10084776" cy="2107723"/>
            <a:chOff x="-3765" y="4832896"/>
            <a:chExt cx="9147765" cy="2032192"/>
          </a:xfrm>
        </p:grpSpPr>
        <p:sp>
          <p:nvSpPr>
            <p:cNvPr id="7" name="Forma livre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orma livre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orma livre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Conector reto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96370" y="1168136"/>
            <a:ext cx="8568531" cy="2015913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53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324518" y="3231669"/>
            <a:ext cx="5040313" cy="1603745"/>
          </a:xfrm>
        </p:spPr>
        <p:txBody>
          <a:bodyPr lIns="100794" rIns="100794" anchor="t"/>
          <a:lstStyle>
            <a:lvl1pPr marL="0" indent="0" algn="l">
              <a:buNone/>
              <a:defRPr sz="2500">
                <a:solidFill>
                  <a:schemeClr val="tx1"/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Divisa 6"/>
          <p:cNvSpPr/>
          <p:nvPr/>
        </p:nvSpPr>
        <p:spPr>
          <a:xfrm>
            <a:off x="4009187" y="3312976"/>
            <a:ext cx="201613" cy="251989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Divisa 7"/>
          <p:cNvSpPr/>
          <p:nvPr/>
        </p:nvSpPr>
        <p:spPr>
          <a:xfrm>
            <a:off x="3803676" y="3312976"/>
            <a:ext cx="201613" cy="251989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04031" y="1632890"/>
            <a:ext cx="4452276" cy="4989036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24318" y="1632890"/>
            <a:ext cx="4452276" cy="4989036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04031" y="300987"/>
            <a:ext cx="9072563" cy="1259946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04031" y="5963744"/>
            <a:ext cx="4454027" cy="839964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201589" anchor="ctr"/>
          <a:lstStyle>
            <a:lvl1pPr marL="0" indent="0">
              <a:buNone/>
              <a:defRPr sz="2600" b="0">
                <a:solidFill>
                  <a:schemeClr val="bg1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5120819" y="5963744"/>
            <a:ext cx="4455776" cy="839964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201589" anchor="ctr"/>
          <a:lstStyle>
            <a:lvl1pPr marL="0" indent="0">
              <a:buNone/>
              <a:defRPr sz="2600" b="0">
                <a:solidFill>
                  <a:schemeClr val="bg1"/>
                </a:solidFill>
              </a:defRPr>
            </a:lvl1pPr>
            <a:lvl2pPr>
              <a:buNone/>
              <a:defRPr sz="2200" b="1"/>
            </a:lvl2pPr>
            <a:lvl3pPr>
              <a:buNone/>
              <a:defRPr sz="2000" b="1"/>
            </a:lvl3pPr>
            <a:lvl4pPr>
              <a:buNone/>
              <a:defRPr sz="1800" b="1"/>
            </a:lvl4pPr>
            <a:lvl5pPr>
              <a:buNone/>
              <a:defRPr sz="18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504031" y="1592067"/>
            <a:ext cx="4454027" cy="4345064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5120818" y="1592067"/>
            <a:ext cx="4455776" cy="4345064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8063" y="5375769"/>
            <a:ext cx="8248138" cy="503978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8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872302" y="5903008"/>
            <a:ext cx="4381712" cy="1007957"/>
          </a:xfrm>
        </p:spPr>
        <p:txBody>
          <a:bodyPr/>
          <a:lstStyle>
            <a:lvl1pPr marL="0" indent="0" algn="r">
              <a:buNone/>
              <a:defRPr sz="1800"/>
            </a:lvl1pPr>
            <a:lvl2pPr>
              <a:buNone/>
              <a:defRPr sz="1300"/>
            </a:lvl2pPr>
            <a:lvl3pPr>
              <a:buNone/>
              <a:defRPr sz="1100"/>
            </a:lvl3pPr>
            <a:lvl4pPr>
              <a:buNone/>
              <a:defRPr sz="1000"/>
            </a:lvl4pPr>
            <a:lvl5pPr>
              <a:buNone/>
              <a:defRPr sz="10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1008063" y="302387"/>
            <a:ext cx="8245951" cy="503978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7416086" y="7063571"/>
            <a:ext cx="2116931" cy="403183"/>
          </a:xfrm>
        </p:spPr>
        <p:txBody>
          <a:bodyPr/>
          <a:lstStyle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258129" y="6000343"/>
            <a:ext cx="7896490" cy="714556"/>
          </a:xfrm>
          <a:noFill/>
        </p:spPr>
        <p:txBody>
          <a:bodyPr lIns="100794" tIns="0" rIns="100794" anchor="t"/>
          <a:lstStyle>
            <a:lvl1pPr marL="0" marR="20159" indent="0" algn="r">
              <a:buNone/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52016" y="209405"/>
            <a:ext cx="9576594" cy="4838192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500"/>
            </a:lvl1pPr>
            <a:extLst/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828726" y="7063572"/>
            <a:ext cx="2591463" cy="40248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2016" y="5362896"/>
            <a:ext cx="8902603" cy="62024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3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550414" y="6553191"/>
            <a:ext cx="5446695" cy="101531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orma livre 8"/>
          <p:cNvSpPr>
            <a:spLocks/>
          </p:cNvSpPr>
          <p:nvPr/>
        </p:nvSpPr>
        <p:spPr bwMode="auto">
          <a:xfrm>
            <a:off x="535470" y="6546660"/>
            <a:ext cx="4068466" cy="102895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Triângulo retângulo 9"/>
          <p:cNvSpPr>
            <a:spLocks/>
          </p:cNvSpPr>
          <p:nvPr/>
        </p:nvSpPr>
        <p:spPr bwMode="auto">
          <a:xfrm>
            <a:off x="-6661" y="6383784"/>
            <a:ext cx="3750815" cy="1191457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00794" tIns="50397" rIns="100794" bIns="50397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Conector reto 10"/>
          <p:cNvCxnSpPr/>
          <p:nvPr/>
        </p:nvCxnSpPr>
        <p:spPr>
          <a:xfrm>
            <a:off x="-10183" y="6379910"/>
            <a:ext cx="3754337" cy="1195331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visa 11"/>
          <p:cNvSpPr/>
          <p:nvPr/>
        </p:nvSpPr>
        <p:spPr>
          <a:xfrm>
            <a:off x="9551582" y="5498831"/>
            <a:ext cx="201613" cy="251989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Divisa 12"/>
          <p:cNvSpPr/>
          <p:nvPr/>
        </p:nvSpPr>
        <p:spPr>
          <a:xfrm>
            <a:off x="9346071" y="5498831"/>
            <a:ext cx="201613" cy="251989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0794" tIns="50397" rIns="100794" bIns="50397"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04031" y="1632891"/>
            <a:ext cx="9072563" cy="483483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545049" y="302740"/>
            <a:ext cx="1959537" cy="6164983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504031" y="302741"/>
            <a:ext cx="6972432" cy="6164982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92000" y="4104000"/>
            <a:ext cx="8568000" cy="14400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4800" b="1" strike="noStrike" spc="-1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792000" y="5904000"/>
            <a:ext cx="8568000" cy="438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/>
          <p:cNvSpPr>
            <a:spLocks/>
          </p:cNvSpPr>
          <p:nvPr/>
        </p:nvSpPr>
        <p:spPr bwMode="auto">
          <a:xfrm>
            <a:off x="550414" y="6553191"/>
            <a:ext cx="5446695" cy="101531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orma livre 11"/>
          <p:cNvSpPr>
            <a:spLocks/>
          </p:cNvSpPr>
          <p:nvPr/>
        </p:nvSpPr>
        <p:spPr bwMode="auto">
          <a:xfrm>
            <a:off x="535470" y="6546660"/>
            <a:ext cx="4068466" cy="102895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00794" tIns="50397" rIns="100794" bIns="50397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Triângulo retângulo 13"/>
          <p:cNvSpPr>
            <a:spLocks/>
          </p:cNvSpPr>
          <p:nvPr/>
        </p:nvSpPr>
        <p:spPr bwMode="auto">
          <a:xfrm>
            <a:off x="-6661" y="6383784"/>
            <a:ext cx="3750815" cy="1191457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100794" tIns="50397" rIns="100794" bIns="50397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Conector reto 14"/>
          <p:cNvCxnSpPr/>
          <p:nvPr/>
        </p:nvCxnSpPr>
        <p:spPr>
          <a:xfrm>
            <a:off x="-10183" y="6379910"/>
            <a:ext cx="3754337" cy="1195331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  <a:prstGeom prst="rect">
            <a:avLst/>
          </a:prstGeom>
        </p:spPr>
        <p:txBody>
          <a:bodyPr vert="horz" lIns="100794" tIns="50397" rIns="100794" bIns="50397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504031" y="1632890"/>
            <a:ext cx="9072563" cy="4989036"/>
          </a:xfrm>
          <a:prstGeom prst="rect">
            <a:avLst/>
          </a:prstGeom>
        </p:spPr>
        <p:txBody>
          <a:bodyPr vert="horz" lIns="100794" tIns="50397" rIns="100794" bIns="50397"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7416086" y="7063571"/>
            <a:ext cx="2116931" cy="403183"/>
          </a:xfrm>
          <a:prstGeom prst="rect">
            <a:avLst/>
          </a:prstGeom>
        </p:spPr>
        <p:txBody>
          <a:bodyPr vert="horz" lIns="100794" tIns="50397" rIns="100794" bIns="50397" anchor="b"/>
          <a:lstStyle>
            <a:lvl1pPr algn="l" eaLnBrk="1" latinLnBrk="0" hangingPunct="1">
              <a:defRPr kumimoji="0" sz="1100">
                <a:solidFill>
                  <a:schemeClr val="tx1"/>
                </a:solidFill>
              </a:defRPr>
            </a:lvl1pPr>
            <a:extLst/>
          </a:lstStyle>
          <a:p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&lt;data/hora&gt;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4828726" y="7063572"/>
            <a:ext cx="2591463" cy="402483"/>
          </a:xfrm>
          <a:prstGeom prst="rect">
            <a:avLst/>
          </a:prstGeom>
        </p:spPr>
        <p:txBody>
          <a:bodyPr vert="horz" lIns="100794" tIns="50397" rIns="100794" bIns="50397" anchor="b"/>
          <a:lstStyle>
            <a:lvl1pPr algn="r" eaLnBrk="1" latinLnBrk="0" hangingPunct="1">
              <a:defRPr kumimoji="0" sz="1100">
                <a:solidFill>
                  <a:schemeClr val="tx1"/>
                </a:solidFill>
              </a:defRPr>
            </a:lvl1pPr>
            <a:extLst/>
          </a:lstStyle>
          <a:p>
            <a:pPr algn="ctr"/>
            <a:r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&lt;rodapé&gt;</a:t>
            </a:r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9533017" y="7063572"/>
            <a:ext cx="403225" cy="402483"/>
          </a:xfrm>
          <a:prstGeom prst="rect">
            <a:avLst/>
          </a:prstGeom>
        </p:spPr>
        <p:txBody>
          <a:bodyPr vert="horz" lIns="100794" tIns="50397" rIns="100794" bIns="50397" anchor="b"/>
          <a:lstStyle>
            <a:lvl1pPr algn="r" eaLnBrk="1" latinLnBrk="0" hangingPunct="1">
              <a:defRPr kumimoji="0" sz="1100" b="0">
                <a:solidFill>
                  <a:schemeClr val="tx1"/>
                </a:solidFill>
              </a:defRPr>
            </a:lvl1pPr>
            <a:extLst/>
          </a:lstStyle>
          <a:p>
            <a:pPr algn="r"/>
            <a:fld id="{DB091E68-1B3F-4FBB-B2DC-0A037F9074F0}" type="slidenum">
              <a:rPr lang="pt-BR" sz="1400" b="0" strike="noStrike" spc="-1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‹nº›</a:t>
            </a:fld>
            <a:endParaRPr lang="pt-BR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403177" indent="-282224" algn="l" rtl="0" eaLnBrk="1" latinLnBrk="0" hangingPunct="1">
        <a:spcBef>
          <a:spcPts val="441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401" indent="-251986" algn="l" rtl="0" eaLnBrk="1" latinLnBrk="0" hangingPunct="1">
        <a:spcBef>
          <a:spcPts val="357"/>
        </a:spcBef>
        <a:buClr>
          <a:schemeClr val="accent1"/>
        </a:buClr>
        <a:buFont typeface="Verdana"/>
        <a:buChar char="◦"/>
        <a:defRPr kumimoji="0"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947467" indent="-251986" algn="l" rtl="0" eaLnBrk="1" latinLnBrk="0" hangingPunct="1">
        <a:spcBef>
          <a:spcPts val="386"/>
        </a:spcBef>
        <a:buClr>
          <a:schemeClr val="accent2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259929" indent="-251986" algn="l" rtl="0" eaLnBrk="1" latinLnBrk="0" hangingPunct="1">
        <a:spcBef>
          <a:spcPts val="386"/>
        </a:spcBef>
        <a:buClr>
          <a:schemeClr val="accent2"/>
        </a:buClr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511915" indent="-251986" algn="l" rtl="0" eaLnBrk="1" latinLnBrk="0" hangingPunct="1">
        <a:spcBef>
          <a:spcPts val="386"/>
        </a:spcBef>
        <a:buClr>
          <a:schemeClr val="accent2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3900" indent="-251986" algn="l" rtl="0" eaLnBrk="1" latinLnBrk="0" hangingPunct="1">
        <a:spcBef>
          <a:spcPts val="386"/>
        </a:spcBef>
        <a:buClr>
          <a:schemeClr val="accent3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015886" indent="-251986" algn="l" rtl="0" eaLnBrk="1" latinLnBrk="0" hangingPunct="1">
        <a:spcBef>
          <a:spcPts val="386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267872" indent="-251986" algn="l" rtl="0" eaLnBrk="1" latinLnBrk="0" hangingPunct="1">
        <a:spcBef>
          <a:spcPts val="386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519858" indent="-251986" algn="l" rtl="0" eaLnBrk="1" latinLnBrk="0" hangingPunct="1">
        <a:spcBef>
          <a:spcPts val="386"/>
        </a:spcBef>
        <a:buClr>
          <a:schemeClr val="accent3"/>
        </a:buClr>
        <a:buFont typeface="Wingdings 2"/>
        <a:buChar char="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Shape 1"/>
          <p:cNvSpPr txBox="1"/>
          <p:nvPr/>
        </p:nvSpPr>
        <p:spPr>
          <a:xfrm>
            <a:off x="1368000" y="3168000"/>
            <a:ext cx="8568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pt-BR" sz="4800" b="1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Dispositivos de E/S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756000" y="432000"/>
            <a:ext cx="8568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pt-BR" sz="4800" b="1" u="sng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			Tipos de E/S </a:t>
            </a:r>
          </a:p>
        </p:txBody>
      </p:sp>
      <p:sp>
        <p:nvSpPr>
          <p:cNvPr id="81" name="TextShape 2"/>
          <p:cNvSpPr txBox="1"/>
          <p:nvPr/>
        </p:nvSpPr>
        <p:spPr>
          <a:xfrm>
            <a:off x="648000" y="1944000"/>
            <a:ext cx="8568000" cy="338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Classificação:</a:t>
            </a:r>
          </a:p>
          <a:p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</a:p>
          <a:p>
            <a:pPr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Estruturados (</a:t>
            </a:r>
            <a:r>
              <a:rPr lang="pt-BR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Block</a:t>
            </a:r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  <a:r>
              <a:rPr lang="pt-BR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Devices</a:t>
            </a:r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 </a:t>
            </a:r>
            <a:endParaRPr lang="pt-BR" sz="3200" b="0" strike="noStrike" spc="-1" dirty="0" smtClean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lvl="1"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buClr>
                <a:srgbClr val="000000"/>
              </a:buClr>
              <a:buSzPct val="45000"/>
              <a:buFont typeface="Wingdings" charset="2"/>
              <a:buChar char=""/>
            </a:pPr>
            <a:endParaRPr lang="pt-BR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Não Estruturados (</a:t>
            </a:r>
            <a:r>
              <a:rPr lang="pt-BR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character</a:t>
            </a:r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 </a:t>
            </a:r>
            <a:r>
              <a:rPr lang="pt-BR" sz="3200" b="0" strike="noStrike" spc="-1" dirty="0" err="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devices</a:t>
            </a:r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)</a:t>
            </a:r>
          </a:p>
          <a:p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864000" y="360000"/>
            <a:ext cx="8568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pt-BR" sz="4800" b="1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Estruturados</a:t>
            </a:r>
          </a:p>
        </p:txBody>
      </p:sp>
      <p:pic>
        <p:nvPicPr>
          <p:cNvPr id="83" name="Imagem 82"/>
          <p:cNvPicPr/>
          <p:nvPr/>
        </p:nvPicPr>
        <p:blipFill>
          <a:blip r:embed="rId2"/>
          <a:stretch/>
        </p:blipFill>
        <p:spPr>
          <a:xfrm>
            <a:off x="1060560" y="2376000"/>
            <a:ext cx="3835440" cy="2872800"/>
          </a:xfrm>
          <a:prstGeom prst="rect">
            <a:avLst/>
          </a:prstGeom>
          <a:ln>
            <a:noFill/>
          </a:ln>
        </p:spPr>
      </p:pic>
      <p:pic>
        <p:nvPicPr>
          <p:cNvPr id="84" name="Imagem 83"/>
          <p:cNvPicPr/>
          <p:nvPr/>
        </p:nvPicPr>
        <p:blipFill>
          <a:blip r:embed="rId3"/>
          <a:stretch/>
        </p:blipFill>
        <p:spPr>
          <a:xfrm>
            <a:off x="5472000" y="2326800"/>
            <a:ext cx="2571480" cy="1780920"/>
          </a:xfrm>
          <a:prstGeom prst="rect">
            <a:avLst/>
          </a:prstGeom>
          <a:ln>
            <a:noFill/>
          </a:ln>
        </p:spPr>
      </p:pic>
      <p:pic>
        <p:nvPicPr>
          <p:cNvPr id="85" name="Imagem 84"/>
          <p:cNvPicPr/>
          <p:nvPr/>
        </p:nvPicPr>
        <p:blipFill>
          <a:blip r:embed="rId4"/>
          <a:stretch/>
        </p:blipFill>
        <p:spPr>
          <a:xfrm>
            <a:off x="5472000" y="4962960"/>
            <a:ext cx="3809520" cy="2381040"/>
          </a:xfrm>
          <a:prstGeom prst="rect">
            <a:avLst/>
          </a:prstGeom>
          <a:ln>
            <a:noFill/>
          </a:ln>
        </p:spPr>
      </p:pic>
      <p:sp>
        <p:nvSpPr>
          <p:cNvPr id="86" name="TextShape 2"/>
          <p:cNvSpPr txBox="1"/>
          <p:nvPr/>
        </p:nvSpPr>
        <p:spPr>
          <a:xfrm>
            <a:off x="5904000" y="4290840"/>
            <a:ext cx="2880000" cy="346320"/>
          </a:xfrm>
          <a:prstGeom prst="rect">
            <a:avLst/>
          </a:prstGeom>
          <a:noFill/>
          <a:ln w="54000">
            <a:noFill/>
          </a:ln>
        </p:spPr>
        <p:txBody>
          <a:bodyPr lIns="90000" tIns="45000" rIns="90000" bIns="45000"/>
          <a:lstStyle/>
          <a:p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Disco </a:t>
            </a:r>
            <a:r>
              <a:rPr lang="pt-BR" sz="3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Óptico</a:t>
            </a:r>
            <a:endParaRPr lang="pt-BR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sp>
        <p:nvSpPr>
          <p:cNvPr id="87" name="TextShape 3"/>
          <p:cNvSpPr txBox="1"/>
          <p:nvPr/>
        </p:nvSpPr>
        <p:spPr>
          <a:xfrm>
            <a:off x="1224000" y="1944000"/>
            <a:ext cx="3384264" cy="346320"/>
          </a:xfrm>
          <a:prstGeom prst="rect">
            <a:avLst/>
          </a:prstGeom>
          <a:noFill/>
          <a:ln w="54000">
            <a:noFill/>
          </a:ln>
        </p:spPr>
        <p:txBody>
          <a:bodyPr lIns="90000" tIns="45000" rIns="90000" bIns="45000"/>
          <a:lstStyle/>
          <a:p>
            <a:r>
              <a:rPr lang="pt-BR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Disco </a:t>
            </a:r>
            <a:r>
              <a:rPr lang="pt-BR" sz="32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Magnético</a:t>
            </a:r>
            <a:endParaRPr lang="pt-BR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432000" y="216000"/>
            <a:ext cx="8568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4800" b="1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Estruturados</a:t>
            </a:r>
          </a:p>
        </p:txBody>
      </p:sp>
      <p:sp>
        <p:nvSpPr>
          <p:cNvPr id="89" name="TextShape 2"/>
          <p:cNvSpPr txBox="1"/>
          <p:nvPr/>
        </p:nvSpPr>
        <p:spPr>
          <a:xfrm>
            <a:off x="720000" y="1656000"/>
            <a:ext cx="8568000" cy="5248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Acesso Direto</a:t>
            </a:r>
          </a:p>
          <a:p>
            <a:pPr marL="108000">
              <a:buClr>
                <a:srgbClr val="333333"/>
              </a:buClr>
              <a:buSzPct val="45000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 </a:t>
            </a: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endParaRPr lang="pt-BR" sz="2400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endParaRPr lang="pt-BR" sz="2400" b="0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endParaRPr lang="pt-BR" sz="2400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endParaRPr lang="pt-BR" sz="2400" b="0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endParaRPr lang="pt-BR" sz="2400" b="0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Acesso </a:t>
            </a:r>
            <a:r>
              <a:rPr lang="pt-BR" sz="2400" b="0" strike="noStrike" spc="-1" dirty="0" err="1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Sequêncial</a:t>
            </a:r>
            <a:endParaRPr lang="pt-BR" sz="2400" b="0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</p:txBody>
      </p:sp>
      <p:pic>
        <p:nvPicPr>
          <p:cNvPr id="90" name="Imagem 89"/>
          <p:cNvPicPr/>
          <p:nvPr/>
        </p:nvPicPr>
        <p:blipFill>
          <a:blip r:embed="rId2"/>
          <a:stretch/>
        </p:blipFill>
        <p:spPr>
          <a:xfrm>
            <a:off x="4392240" y="2016000"/>
            <a:ext cx="2571480" cy="1780920"/>
          </a:xfrm>
          <a:prstGeom prst="rect">
            <a:avLst/>
          </a:prstGeom>
          <a:ln>
            <a:noFill/>
          </a:ln>
        </p:spPr>
      </p:pic>
      <p:sp>
        <p:nvSpPr>
          <p:cNvPr id="91" name="TextShape 3"/>
          <p:cNvSpPr txBox="1"/>
          <p:nvPr/>
        </p:nvSpPr>
        <p:spPr>
          <a:xfrm>
            <a:off x="1152000" y="2232000"/>
            <a:ext cx="1728000" cy="346320"/>
          </a:xfrm>
          <a:prstGeom prst="rect">
            <a:avLst/>
          </a:prstGeom>
          <a:noFill/>
          <a:ln w="54000">
            <a:noFill/>
          </a:ln>
        </p:spPr>
        <p:txBody>
          <a:bodyPr lIns="90000" tIns="45000" rIns="90000" bIns="45000"/>
          <a:lstStyle/>
          <a:p>
            <a:r>
              <a:rPr lang="pt-B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Exemplo: HD</a:t>
            </a:r>
          </a:p>
        </p:txBody>
      </p:sp>
      <p:pic>
        <p:nvPicPr>
          <p:cNvPr id="92" name="Imagem 91"/>
          <p:cNvPicPr/>
          <p:nvPr/>
        </p:nvPicPr>
        <p:blipFill>
          <a:blip r:embed="rId3"/>
          <a:stretch/>
        </p:blipFill>
        <p:spPr>
          <a:xfrm>
            <a:off x="4536000" y="4248000"/>
            <a:ext cx="4536000" cy="3053880"/>
          </a:xfrm>
          <a:prstGeom prst="rect">
            <a:avLst/>
          </a:prstGeom>
          <a:ln>
            <a:noFill/>
          </a:ln>
        </p:spPr>
      </p:pic>
      <p:sp>
        <p:nvSpPr>
          <p:cNvPr id="93" name="TextShape 4"/>
          <p:cNvSpPr txBox="1"/>
          <p:nvPr/>
        </p:nvSpPr>
        <p:spPr>
          <a:xfrm>
            <a:off x="1152000" y="4752000"/>
            <a:ext cx="2736000" cy="346320"/>
          </a:xfrm>
          <a:prstGeom prst="rect">
            <a:avLst/>
          </a:prstGeom>
          <a:noFill/>
          <a:ln w="54000">
            <a:noFill/>
          </a:ln>
        </p:spPr>
        <p:txBody>
          <a:bodyPr lIns="90000" tIns="45000" rIns="90000" bIns="45000"/>
          <a:lstStyle/>
          <a:p>
            <a:r>
              <a:rPr lang="pt-BR" sz="18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Fita </a:t>
            </a:r>
            <a:r>
              <a:rPr lang="pt-BR" sz="1800" b="0" strike="noStrike" spc="-1" dirty="0" smtClean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Magnética</a:t>
            </a:r>
            <a:endParaRPr lang="pt-BR" sz="18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504000" y="144000"/>
            <a:ext cx="8568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pt-BR" sz="3600" b="1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Dispositivos Não Estruturados</a:t>
            </a:r>
          </a:p>
        </p:txBody>
      </p:sp>
      <p:sp>
        <p:nvSpPr>
          <p:cNvPr id="95" name="TextShape 2"/>
          <p:cNvSpPr txBox="1"/>
          <p:nvPr/>
        </p:nvSpPr>
        <p:spPr>
          <a:xfrm>
            <a:off x="576000" y="1728000"/>
            <a:ext cx="8568000" cy="438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Impressoras</a:t>
            </a: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Terminais </a:t>
            </a: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Interfaces de rede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8104" y="2794928"/>
            <a:ext cx="6425952" cy="4248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Shape 1"/>
          <p:cNvSpPr txBox="1"/>
          <p:nvPr/>
        </p:nvSpPr>
        <p:spPr>
          <a:xfrm>
            <a:off x="648000" y="288000"/>
            <a:ext cx="8568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pt-BR" sz="4800" b="1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Disco </a:t>
            </a:r>
            <a:r>
              <a:rPr lang="pt-BR" sz="4800" b="1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Magnético</a:t>
            </a:r>
            <a:endParaRPr lang="pt-BR" sz="4800" b="1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</p:txBody>
      </p:sp>
      <p:pic>
        <p:nvPicPr>
          <p:cNvPr id="98" name="Imagem 97"/>
          <p:cNvPicPr/>
          <p:nvPr/>
        </p:nvPicPr>
        <p:blipFill>
          <a:blip r:embed="rId2"/>
          <a:stretch/>
        </p:blipFill>
        <p:spPr>
          <a:xfrm>
            <a:off x="3960000" y="1845720"/>
            <a:ext cx="5688000" cy="5484240"/>
          </a:xfrm>
          <a:prstGeom prst="rect">
            <a:avLst/>
          </a:prstGeom>
          <a:ln>
            <a:noFill/>
          </a:ln>
        </p:spPr>
      </p:pic>
      <p:sp>
        <p:nvSpPr>
          <p:cNvPr id="99" name="TextShape 2"/>
          <p:cNvSpPr txBox="1"/>
          <p:nvPr/>
        </p:nvSpPr>
        <p:spPr>
          <a:xfrm>
            <a:off x="648000" y="1729680"/>
            <a:ext cx="4752000" cy="602280"/>
          </a:xfrm>
          <a:prstGeom prst="rect">
            <a:avLst/>
          </a:prstGeom>
          <a:noFill/>
          <a:ln w="54000">
            <a:noFill/>
          </a:ln>
        </p:spPr>
        <p:txBody>
          <a:bodyPr lIns="90000" tIns="45000" rIns="90000" bIns="45000"/>
          <a:lstStyle/>
          <a:p>
            <a:r>
              <a:rPr lang="pt-BR" sz="24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Ainda é o principal dispositivo de armazenamento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648000" y="288000"/>
            <a:ext cx="8568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pt-BR" sz="4800" b="1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Tempo </a:t>
            </a:r>
            <a:r>
              <a:rPr lang="pt-BR" sz="4800" b="1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Leitura/Gravação</a:t>
            </a:r>
            <a:endParaRPr lang="pt-BR" sz="4800" b="1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</p:txBody>
      </p:sp>
      <p:sp>
        <p:nvSpPr>
          <p:cNvPr id="101" name="TextShape 2"/>
          <p:cNvSpPr txBox="1"/>
          <p:nvPr/>
        </p:nvSpPr>
        <p:spPr>
          <a:xfrm>
            <a:off x="432000" y="2023200"/>
            <a:ext cx="8568000" cy="438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buClr>
                <a:srgbClr val="333333"/>
              </a:buClr>
              <a:buSzPct val="45000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É medido por ter fatores:</a:t>
            </a:r>
          </a:p>
          <a:p>
            <a:pPr marL="997200" lvl="1" indent="-457200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Tempo de </a:t>
            </a: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Seek</a:t>
            </a:r>
            <a:endParaRPr lang="pt-BR" sz="2400" b="0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  <a:p>
            <a:pPr marL="997200" lvl="1" indent="-457200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pt-BR" sz="2400" b="0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Latência </a:t>
            </a: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Rotacional</a:t>
            </a:r>
          </a:p>
          <a:p>
            <a:pPr marL="997200" lvl="1" indent="-457200">
              <a:buClr>
                <a:schemeClr val="tx1"/>
              </a:buClr>
              <a:buSzPct val="75000"/>
              <a:buFont typeface="Arial" panose="020B0604020202020204" pitchFamily="34" charset="0"/>
              <a:buChar char="•"/>
            </a:pPr>
            <a:r>
              <a:rPr lang="pt-BR" sz="2400" b="0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Transferência</a:t>
            </a:r>
            <a:endParaRPr lang="pt-BR" sz="2400" b="0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</p:txBody>
      </p:sp>
      <p:pic>
        <p:nvPicPr>
          <p:cNvPr id="102" name="Imagem 101"/>
          <p:cNvPicPr/>
          <p:nvPr/>
        </p:nvPicPr>
        <p:blipFill>
          <a:blip r:embed="rId2"/>
          <a:stretch/>
        </p:blipFill>
        <p:spPr>
          <a:xfrm>
            <a:off x="4392000" y="3116520"/>
            <a:ext cx="5428800" cy="4371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576000" y="288000"/>
            <a:ext cx="8568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r>
              <a:rPr lang="pt-BR" sz="3600" b="1" strike="noStrike" spc="-1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Desempenho, Redundancia e Proteção de dados</a:t>
            </a:r>
          </a:p>
        </p:txBody>
      </p:sp>
      <p:sp>
        <p:nvSpPr>
          <p:cNvPr id="104" name="TextShape 2"/>
          <p:cNvSpPr txBox="1"/>
          <p:nvPr/>
        </p:nvSpPr>
        <p:spPr>
          <a:xfrm>
            <a:off x="648000" y="1879200"/>
            <a:ext cx="8568000" cy="5176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333333"/>
              </a:buClr>
              <a:buFont typeface="Symbol" charset="2"/>
              <a:buChar char=""/>
            </a:pPr>
            <a:r>
              <a:rPr lang="pt-BR" sz="2400" b="0" strike="noStrike" spc="-1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Universidade da California em Berkeley, no final da decada de 80 Foi desenvolvida uma nova tecnica. </a:t>
            </a:r>
          </a:p>
          <a:p>
            <a:pPr marL="432000" indent="-324000">
              <a:buClr>
                <a:srgbClr val="333333"/>
              </a:buClr>
              <a:buFont typeface="Symbol" charset="2"/>
              <a:buChar char=""/>
            </a:pPr>
            <a:r>
              <a:rPr lang="pt-BR" sz="2400" b="0" strike="noStrike" spc="-1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RAID ( Redundant Arrays of inexpensive Disc)</a:t>
            </a: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Primeiramente foi desenvolvida 6 niveis de RAID</a:t>
            </a: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RAID 1-6</a:t>
            </a: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Com o grande sucesso da tecnica foi adicionado mais um nivel (RAID 0)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32000" y="144000"/>
            <a:ext cx="8568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4800" b="1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Técnicas </a:t>
            </a:r>
            <a:r>
              <a:rPr lang="pt-BR" sz="4800" b="1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RAID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720000" y="2232000"/>
            <a:ext cx="8568000" cy="438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Podem ser implementadas diretamente nos controladores de discos, conhecido como</a:t>
            </a:r>
            <a:r>
              <a:rPr lang="pt-BR" sz="2400" b="0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:</a:t>
            </a:r>
            <a:endParaRPr lang="pt-BR" sz="2400" b="0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Subsistema RAID Externo ou,</a:t>
            </a:r>
          </a:p>
          <a:p>
            <a:pPr marL="432000" indent="-324000">
              <a:buClr>
                <a:srgbClr val="333333"/>
              </a:buClr>
              <a:buSzPct val="45000"/>
              <a:buFont typeface="Wingdings" charset="2"/>
              <a:buChar char="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Subsistema JBOD (Just a </a:t>
            </a:r>
            <a:r>
              <a:rPr lang="pt-BR" sz="2400" b="0" strike="noStrike" spc="-1" dirty="0" err="1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Bunch</a:t>
            </a: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 </a:t>
            </a:r>
            <a:r>
              <a:rPr lang="pt-BR" sz="2400" b="0" strike="noStrike" spc="-1" dirty="0" err="1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of</a:t>
            </a: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 disks)</a:t>
            </a:r>
          </a:p>
        </p:txBody>
      </p:sp>
      <p:pic>
        <p:nvPicPr>
          <p:cNvPr id="4" name="Imagem 3"/>
          <p:cNvPicPr/>
          <p:nvPr/>
        </p:nvPicPr>
        <p:blipFill>
          <a:blip r:embed="rId2"/>
          <a:stretch/>
        </p:blipFill>
        <p:spPr>
          <a:xfrm>
            <a:off x="2880072" y="1584001"/>
            <a:ext cx="3744416" cy="51768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500264" y="288000"/>
            <a:ext cx="8568000" cy="111557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/>
            <a:r>
              <a:rPr lang="pt-BR" sz="3600" b="1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As</a:t>
            </a:r>
            <a:r>
              <a:rPr lang="pt-BR" sz="3600" b="1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 </a:t>
            </a:r>
            <a:r>
              <a:rPr lang="pt-BR" sz="3600" b="1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Mais </a:t>
            </a:r>
            <a:r>
              <a:rPr lang="pt-BR" sz="3600" b="1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U</a:t>
            </a:r>
            <a:r>
              <a:rPr lang="pt-BR" sz="3600" b="1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tilizadas</a:t>
            </a:r>
            <a:endParaRPr lang="pt-BR" sz="3600" b="1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</p:txBody>
      </p:sp>
      <p:sp>
        <p:nvSpPr>
          <p:cNvPr id="110" name="TextShape 2"/>
          <p:cNvSpPr txBox="1"/>
          <p:nvPr/>
        </p:nvSpPr>
        <p:spPr>
          <a:xfrm>
            <a:off x="576000" y="1619597"/>
            <a:ext cx="8568000" cy="4932403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pPr marL="108000">
              <a:buClr>
                <a:srgbClr val="333333"/>
              </a:buClr>
              <a:buSzPct val="45000"/>
            </a:pPr>
            <a:r>
              <a:rPr lang="pt-BR" sz="2400" b="0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RAID 0 – </a:t>
            </a:r>
            <a:r>
              <a:rPr lang="pt-BR" sz="2400" b="0" strike="noStrike" spc="-1" dirty="0" err="1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Striping</a:t>
            </a:r>
            <a:r>
              <a:rPr lang="pt-BR" sz="2400" b="0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.</a:t>
            </a:r>
          </a:p>
          <a:p>
            <a:pPr marL="108000">
              <a:buClr>
                <a:srgbClr val="333333"/>
              </a:buClr>
              <a:buSzPct val="45000"/>
            </a:pPr>
            <a:endParaRPr lang="pt-BR" sz="2400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  <a:p>
            <a:pPr marL="450900" indent="-342900">
              <a:buClr>
                <a:srgbClr val="333333"/>
              </a:buClr>
              <a:buSzPct val="45000"/>
              <a:buFont typeface="Arial" panose="020B0604020202020204" pitchFamily="34" charset="0"/>
              <a:buChar char="•"/>
            </a:pPr>
            <a:r>
              <a:rPr lang="pt-BR" sz="2000" b="0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Distribui as operações de E/S entre os discos físicos </a:t>
            </a:r>
            <a:r>
              <a:rPr lang="pt-BR" sz="2000" b="0" strike="noStrike" spc="-1" dirty="0" err="1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contigos</a:t>
            </a:r>
            <a:r>
              <a:rPr lang="pt-BR" sz="2000" b="0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 no </a:t>
            </a:r>
            <a:r>
              <a:rPr lang="pt-BR" sz="2000" spc="-1" dirty="0" err="1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a</a:t>
            </a:r>
            <a:r>
              <a:rPr lang="pt-BR" sz="2000" b="0" strike="noStrike" spc="-1" dirty="0" err="1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rray</a:t>
            </a:r>
            <a:endParaRPr lang="pt-BR" sz="2000" b="0" strike="noStrike" spc="-1" dirty="0" smtClean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  <a:p>
            <a:pPr marL="450900" indent="-342900">
              <a:buClr>
                <a:srgbClr val="333333"/>
              </a:buClr>
              <a:buSzPct val="45000"/>
              <a:buFont typeface="Arial" panose="020B0604020202020204" pitchFamily="34" charset="0"/>
              <a:buChar char="•"/>
            </a:pPr>
            <a:r>
              <a:rPr lang="pt-BR" sz="2000" b="0" strike="noStrike" spc="-1" dirty="0" err="1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Stripe</a:t>
            </a:r>
            <a:r>
              <a:rPr lang="pt-BR" sz="2000" b="0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 set – Conjunto de discos, onde cada disco é divido em peda</a:t>
            </a:r>
            <a:r>
              <a:rPr lang="pt-BR" sz="2000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ços (</a:t>
            </a:r>
            <a:r>
              <a:rPr lang="pt-BR" sz="2000" spc="-1" dirty="0" err="1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Stripes</a:t>
            </a:r>
            <a:r>
              <a:rPr lang="pt-BR" sz="2000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)</a:t>
            </a:r>
          </a:p>
          <a:p>
            <a:pPr marL="450900" indent="-342900">
              <a:buClr>
                <a:srgbClr val="333333"/>
              </a:buClr>
              <a:buSzPct val="45000"/>
              <a:buFont typeface="Arial" panose="020B0604020202020204" pitchFamily="34" charset="0"/>
              <a:buChar char="•"/>
            </a:pPr>
            <a:r>
              <a:rPr lang="pt-BR" sz="2000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quando um arquivo é gravado, é dividido igualmente entre os discos.</a:t>
            </a:r>
          </a:p>
          <a:p>
            <a:pPr marL="450900" indent="-342900">
              <a:buClr>
                <a:srgbClr val="333333"/>
              </a:buClr>
              <a:buSzPct val="45000"/>
              <a:buFont typeface="Arial" panose="020B0604020202020204" pitchFamily="34" charset="0"/>
              <a:buChar char="•"/>
            </a:pPr>
            <a:r>
              <a:rPr lang="pt-BR" sz="2000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Aplicações multimídias são muito beneficiados</a:t>
            </a:r>
            <a:endParaRPr lang="pt-BR" sz="2000" b="0" strike="noStrike" spc="-1" dirty="0" smtClean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  <a:p>
            <a:pPr marL="108000">
              <a:buClr>
                <a:srgbClr val="333333"/>
              </a:buClr>
              <a:buSzPct val="45000"/>
            </a:pPr>
            <a:endParaRPr lang="pt-BR" sz="2400" b="0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</p:txBody>
      </p:sp>
      <p:pic>
        <p:nvPicPr>
          <p:cNvPr id="111" name="Imagem 110"/>
          <p:cNvPicPr/>
          <p:nvPr/>
        </p:nvPicPr>
        <p:blipFill>
          <a:blip r:embed="rId2"/>
          <a:stretch/>
        </p:blipFill>
        <p:spPr>
          <a:xfrm>
            <a:off x="5718305" y="4521155"/>
            <a:ext cx="4362320" cy="3024000"/>
          </a:xfrm>
          <a:prstGeom prst="rect">
            <a:avLst/>
          </a:prstGeom>
          <a:ln>
            <a:noFill/>
          </a:ln>
        </p:spPr>
      </p:pic>
      <p:sp>
        <p:nvSpPr>
          <p:cNvPr id="2" name="CaixaDeTexto 1"/>
          <p:cNvSpPr txBox="1"/>
          <p:nvPr/>
        </p:nvSpPr>
        <p:spPr>
          <a:xfrm>
            <a:off x="498096" y="4087276"/>
            <a:ext cx="842398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Desvantagem: </a:t>
            </a:r>
            <a:r>
              <a:rPr lang="pt-BR" sz="2400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	</a:t>
            </a:r>
          </a:p>
          <a:p>
            <a:r>
              <a:rPr lang="pt-BR" sz="2000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Se houver falha em qualquer um dos discos do</a:t>
            </a:r>
          </a:p>
          <a:p>
            <a:r>
              <a:rPr lang="pt-BR" sz="2000" spc="-1" dirty="0" err="1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Stripe</a:t>
            </a:r>
            <a:r>
              <a:rPr lang="pt-BR" sz="2000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 set, os dados serão perdidos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TextShape 1"/>
          <p:cNvSpPr txBox="1"/>
          <p:nvPr/>
        </p:nvSpPr>
        <p:spPr>
          <a:xfrm>
            <a:off x="727536" y="179437"/>
            <a:ext cx="8568000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pt-BR" sz="3600" b="1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RAID 1 – Espelhamento</a:t>
            </a:r>
          </a:p>
        </p:txBody>
      </p:sp>
      <p:pic>
        <p:nvPicPr>
          <p:cNvPr id="113" name="Imagem 112"/>
          <p:cNvPicPr/>
          <p:nvPr/>
        </p:nvPicPr>
        <p:blipFill>
          <a:blip r:embed="rId2"/>
          <a:stretch/>
        </p:blipFill>
        <p:spPr>
          <a:xfrm>
            <a:off x="5760392" y="4067869"/>
            <a:ext cx="4103504" cy="3232672"/>
          </a:xfrm>
          <a:prstGeom prst="rect">
            <a:avLst/>
          </a:prstGeom>
          <a:ln>
            <a:noFill/>
          </a:ln>
        </p:spPr>
      </p:pic>
      <p:sp>
        <p:nvSpPr>
          <p:cNvPr id="3" name="CaixaDeTexto 2"/>
          <p:cNvSpPr txBox="1"/>
          <p:nvPr/>
        </p:nvSpPr>
        <p:spPr>
          <a:xfrm>
            <a:off x="727536" y="1619437"/>
            <a:ext cx="8705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Consiste em replicar todo conteúdo do disco principal, chamado em um ou mais discos, chamados espelhou ou secundários.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Em caso de falha no disco principal, serão utilizados os espelhos.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O espelhamento gera um pequeno overhead adicional </a:t>
            </a:r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727536" y="3275781"/>
            <a:ext cx="8568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Desvantagem</a:t>
            </a:r>
          </a:p>
          <a:p>
            <a:r>
              <a:rPr lang="pt-BR" dirty="0" smtClean="0"/>
              <a:t>Grande desperdício de espaço, a capacidade útil do sistema de discos </a:t>
            </a:r>
          </a:p>
          <a:p>
            <a:r>
              <a:rPr lang="pt-BR" dirty="0" smtClean="0"/>
              <a:t>é de apenas 50%</a:t>
            </a: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Shape 1"/>
          <p:cNvSpPr txBox="1"/>
          <p:nvPr/>
        </p:nvSpPr>
        <p:spPr>
          <a:xfrm>
            <a:off x="117824" y="0"/>
            <a:ext cx="9793088" cy="144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buClr>
                <a:srgbClr val="000000"/>
              </a:buClr>
              <a:buSzPct val="45000"/>
            </a:pPr>
            <a:r>
              <a:rPr lang="pt-BR" sz="2600" b="1" strike="noStrike" spc="-1" dirty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RAID 5 – Acesso Independente    com Paridade </a:t>
            </a:r>
            <a:r>
              <a:rPr lang="pt-BR" sz="2600" b="1" strike="noStrike" spc="-1" dirty="0" smtClean="0">
                <a:solidFill>
                  <a:srgbClr val="333333"/>
                </a:solidFill>
                <a:uFill>
                  <a:solidFill>
                    <a:srgbClr val="FFFFFF"/>
                  </a:solidFill>
                </a:uFill>
                <a:latin typeface="Open Sans"/>
              </a:rPr>
              <a:t>Distribuída</a:t>
            </a:r>
            <a:endParaRPr lang="pt-BR" sz="2600" b="1" strike="noStrike" spc="-1" dirty="0">
              <a:solidFill>
                <a:srgbClr val="333333"/>
              </a:solidFill>
              <a:uFill>
                <a:solidFill>
                  <a:srgbClr val="FFFFFF"/>
                </a:solidFill>
              </a:uFill>
              <a:latin typeface="Open Sans"/>
            </a:endParaRPr>
          </a:p>
        </p:txBody>
      </p:sp>
      <p:pic>
        <p:nvPicPr>
          <p:cNvPr id="115" name="Imagem 114"/>
          <p:cNvPicPr/>
          <p:nvPr/>
        </p:nvPicPr>
        <p:blipFill>
          <a:blip r:embed="rId2"/>
          <a:stretch/>
        </p:blipFill>
        <p:spPr>
          <a:xfrm>
            <a:off x="4716000" y="4715941"/>
            <a:ext cx="4752496" cy="2067526"/>
          </a:xfrm>
          <a:prstGeom prst="rect">
            <a:avLst/>
          </a:prstGeom>
          <a:ln>
            <a:noFill/>
          </a:ln>
        </p:spPr>
      </p:pic>
      <p:sp>
        <p:nvSpPr>
          <p:cNvPr id="2" name="CaixaDeTexto 1"/>
          <p:cNvSpPr txBox="1"/>
          <p:nvPr/>
        </p:nvSpPr>
        <p:spPr>
          <a:xfrm>
            <a:off x="323512" y="1255334"/>
            <a:ext cx="878497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Distribui os dados em os discos do </a:t>
            </a:r>
            <a:r>
              <a:rPr lang="pt-BR" dirty="0" err="1" smtClean="0"/>
              <a:t>array</a:t>
            </a:r>
            <a:r>
              <a:rPr lang="pt-BR" dirty="0" smtClean="0"/>
              <a:t> e implementa redundância baseada na paridade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Necessita de calculo de valor para paridade dos dados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havendo falha em um discos, os dados podem ser recuperados por um algoritmo de reconstrução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Devido a utilização de paridade necessita de menor espaço adicional para armazenamento das informações de controle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Sistema com capacidade útil de aproximadamente 80%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smtClean="0"/>
              <a:t>Overhead nas operações de gravação maior.</a:t>
            </a:r>
            <a:endParaRPr lang="pt-BR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829</TotalTime>
  <Words>350</Words>
  <Application>Microsoft Office PowerPoint</Application>
  <PresentationFormat>Personalizar</PresentationFormat>
  <Paragraphs>68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Concurso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Ewerton</dc:creator>
  <cp:lastModifiedBy>Ewerton</cp:lastModifiedBy>
  <cp:revision>11</cp:revision>
  <dcterms:created xsi:type="dcterms:W3CDTF">2016-11-19T10:52:12Z</dcterms:created>
  <dcterms:modified xsi:type="dcterms:W3CDTF">2016-11-20T17:07:26Z</dcterms:modified>
  <dc:language>pt-BR</dc:language>
</cp:coreProperties>
</file>